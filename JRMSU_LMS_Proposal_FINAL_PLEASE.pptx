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46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35706" y="73152"/>
            <a:ext cx="1298448" cy="4997196"/>
          </a:xfrm>
          <a:prstGeom prst="rect">
            <a:avLst/>
          </a:prstGeom>
          <a:solidFill>
            <a:srgbClr val="0A1E38"/>
          </a:solidFill>
          <a:ln w="12700">
            <a:solidFill>
              <a:srgbClr val="0A1E3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365760"/>
            <a:ext cx="868680" cy="8686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417320"/>
            <a:ext cx="868680" cy="86868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2468880"/>
            <a:ext cx="868680" cy="86868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3520440"/>
            <a:ext cx="868680" cy="8686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2880" y="4343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RIZAL MEMORIAL STATE UNIVERSITY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182880" y="777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Proposal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182880" y="109728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LIBRARY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14" name="Text 8"/>
          <p:cNvSpPr/>
          <p:nvPr/>
        </p:nvSpPr>
        <p:spPr>
          <a:xfrm>
            <a:off x="182880" y="2385705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SECURE QR ACCESS AND RESERVATIONS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182880" y="2948676"/>
            <a:ext cx="5029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82880" y="31366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82880" y="335162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Mark A. Suico  •  James Adrian M. Tabamo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Ernie L. Alimpong  •  Kitford Michael A. Retes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31520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31520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31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77724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106984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JRMSU Katipunan's manual library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591056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591056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59105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63677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192938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model, schema, and study schema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450592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50592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4505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" y="249631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" y="27889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Authentication, Reservations, AI Chatbot, Analytics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310128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310128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31012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35584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Architecture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" y="364845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Desktop, and Mobile clients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4169664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169664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1696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" y="421538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" y="450799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respondents, instruments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731520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731520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731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77724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&amp; Scope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106984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study boundaries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1591056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1591056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159105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163677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Literature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192938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and local studies synthesis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2450592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2450592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4505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249631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278892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and respondent rights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36592" y="3310128"/>
            <a:ext cx="4297680" cy="7498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36592" y="3310128"/>
            <a:ext cx="502920" cy="74980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31012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03520" y="335584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03520" y="364845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of activities and development phases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85800"/>
            <a:ext cx="502920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777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State of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JRMSU Katipunan Campus Library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0876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4447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are checked in and out through a physical logbook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98424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19202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exists for advance reservations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45973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23957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identity is not digitally verified at the point of transaction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93522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792" y="28712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track a book's location before a patron arrives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410712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" y="334670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difficult to retrieve and easy to corrupt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886200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1792" y="3822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monitoring is fragmented and tied to physical presence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361688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21792" y="42976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AI-assisted functionality for inquiry support or trend analysis</a:t>
            </a:r>
            <a:endParaRPr lang="en-US" sz="1000" dirty="0"/>
          </a:p>
        </p:txBody>
      </p:sp>
      <p:sp>
        <p:nvSpPr>
          <p:cNvPr id="21" name="Shape 12"/>
          <p:cNvSpPr/>
          <p:nvPr/>
        </p:nvSpPr>
        <p:spPr>
          <a:xfrm>
            <a:off x="5394960" y="685800"/>
            <a:ext cx="3520440" cy="42062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5394960" y="685800"/>
            <a:ext cx="35204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5440680" y="777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Gap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5486400" y="12344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reviewed for this study combines all three core components in a single integrated platform: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5577840" y="1965960"/>
            <a:ext cx="3154680" cy="804672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148840"/>
            <a:ext cx="384048" cy="38404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172200" y="20391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Access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Borrowing Auth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5577840" y="2926080"/>
            <a:ext cx="3154680" cy="804672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108960"/>
            <a:ext cx="384048" cy="38404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172200" y="29992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Module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5577840" y="3886200"/>
            <a:ext cx="3154680" cy="804672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069080"/>
            <a:ext cx="384048" cy="38404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172200" y="3959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Chatbot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5394960" y="4754880"/>
            <a:ext cx="352044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aims to design, develop, and evaluate the AI-Assisted Library Management System with Secure QR Access and Reservations for the JRMSU Katipunan Campus.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8686800" cy="694944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83080"/>
            <a:ext cx="658368" cy="69494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783080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56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current library circulation and access processes operate in the JRMSU Katipunan Campus library?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78608"/>
            <a:ext cx="8686800" cy="694944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578608"/>
            <a:ext cx="658368" cy="694944"/>
          </a:xfrm>
          <a:prstGeom prst="rect">
            <a:avLst/>
          </a:prstGeom>
          <a:solidFill>
            <a:srgbClr val="1BA8A7"/>
          </a:solidFill>
          <a:ln w="12700">
            <a:solidFill>
              <a:srgbClr val="1B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578608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operational issues are encountered in the existing library circulation and access management processes?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374136"/>
            <a:ext cx="8686800" cy="694944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374136"/>
            <a:ext cx="658368" cy="694944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374136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4472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proposed AI-Assisted Library Management System optimize library circulation and access management?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4169664"/>
            <a:ext cx="8686800" cy="694944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4169664"/>
            <a:ext cx="658368" cy="69494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169664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24281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level of acceptability of the proposed system in terms of functionality, usability, and reliability?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— Input-Process-Output (IPO)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13232"/>
            <a:ext cx="2606040" cy="4160520"/>
          </a:xfrm>
          <a:prstGeom prst="rect">
            <a:avLst/>
          </a:prstGeom>
          <a:solidFill>
            <a:srgbClr val="EBF5FB"/>
          </a:solidFill>
          <a:ln w="254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13232"/>
            <a:ext cx="260604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132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252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User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(Students, Librarians, Admin)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20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Book/Material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(Catalog, Copies, QR Codes)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151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(Functional, Non-Functional)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273552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101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Library Processes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 Borrowing, etc.)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968496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0050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Standards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52928" y="2560320"/>
            <a:ext cx="475488" cy="5486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496312"/>
            <a:ext cx="109728" cy="1828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713232"/>
            <a:ext cx="2377440" cy="4160520"/>
          </a:xfrm>
          <a:prstGeom prst="rect">
            <a:avLst/>
          </a:prstGeom>
          <a:solidFill>
            <a:srgbClr val="EEF2FF"/>
          </a:solidFill>
          <a:ln w="25400">
            <a:solidFill>
              <a:srgbClr val="156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01568" y="713232"/>
            <a:ext cx="2377440" cy="384048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7132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225296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749040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627632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49040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8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029968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49040" y="1975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432304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749040" y="2377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Auth Development</a:t>
            </a:r>
            <a:endParaRPr lang="en-US" sz="8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834640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49040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Module Dev</a:t>
            </a:r>
            <a:endParaRPr lang="en-US" sz="8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236976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74904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Development</a:t>
            </a:r>
            <a:endParaRPr lang="en-US" sz="8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639312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749040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Dev</a:t>
            </a:r>
            <a:endParaRPr lang="en-US" sz="8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4041648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749040" y="3986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85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4443984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749040" y="4389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Evaluation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(ISO/IEC 25010)</a:t>
            </a:r>
            <a:endParaRPr lang="en-US" sz="850" dirty="0"/>
          </a:p>
        </p:txBody>
      </p:sp>
      <p:sp>
        <p:nvSpPr>
          <p:cNvPr id="41" name="Shape 30"/>
          <p:cNvSpPr/>
          <p:nvPr/>
        </p:nvSpPr>
        <p:spPr>
          <a:xfrm>
            <a:off x="5852160" y="2560320"/>
            <a:ext cx="475488" cy="5486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245352" y="2496312"/>
            <a:ext cx="109728" cy="1828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6428232" y="713232"/>
            <a:ext cx="2496312" cy="4160520"/>
          </a:xfrm>
          <a:prstGeom prst="rect">
            <a:avLst/>
          </a:prstGeom>
          <a:solidFill>
            <a:srgbClr val="FFF3E0"/>
          </a:solidFill>
          <a:ln w="254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6428232" y="713232"/>
            <a:ext cx="2496312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6428232" y="713232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46" name="Shape 35"/>
          <p:cNvSpPr/>
          <p:nvPr/>
        </p:nvSpPr>
        <p:spPr>
          <a:xfrm>
            <a:off x="6519672" y="1188720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BA0"/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274320" cy="27432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931152" y="12344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Library System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6519672" y="1783080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BA0"/>
            </a:solidFill>
            <a:prstDash val="solid"/>
          </a:ln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874520"/>
            <a:ext cx="274320" cy="27432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6931152" y="18288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QR Authentication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6519672" y="2377440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BA0"/>
            </a:solidFill>
            <a:prstDash val="solid"/>
          </a:ln>
        </p:spPr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468880"/>
            <a:ext cx="274320" cy="27432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931152" y="24231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Workflow</a:t>
            </a:r>
            <a:endParaRPr lang="en-US" sz="900" dirty="0"/>
          </a:p>
        </p:txBody>
      </p:sp>
      <p:sp>
        <p:nvSpPr>
          <p:cNvPr id="55" name="Shape 41"/>
          <p:cNvSpPr/>
          <p:nvPr/>
        </p:nvSpPr>
        <p:spPr>
          <a:xfrm>
            <a:off x="6519672" y="2971800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BA0"/>
            </a:solidFill>
            <a:prstDash val="solid"/>
          </a:ln>
        </p:spPr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063240"/>
            <a:ext cx="274320" cy="27432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6931152" y="30175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Inquiry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6519672" y="3566160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BA0"/>
            </a:solidFill>
            <a:prstDash val="solid"/>
          </a:ln>
        </p:spPr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657600"/>
            <a:ext cx="274320" cy="27432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6931152" y="36118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00" dirty="0"/>
          </a:p>
        </p:txBody>
      </p:sp>
      <p:sp>
        <p:nvSpPr>
          <p:cNvPr id="61" name="Shape 45"/>
          <p:cNvSpPr/>
          <p:nvPr/>
        </p:nvSpPr>
        <p:spPr>
          <a:xfrm>
            <a:off x="6519672" y="4160520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BA0"/>
            </a:solidFill>
            <a:prstDash val="solid"/>
          </a:ln>
        </p:spPr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251960"/>
            <a:ext cx="274320" cy="274320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6931152" y="42062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Shelf Map</a:t>
            </a:r>
            <a:endParaRPr lang="en-US" sz="900" dirty="0"/>
          </a:p>
        </p:txBody>
      </p:sp>
      <p:sp>
        <p:nvSpPr>
          <p:cNvPr id="64" name="Text 47"/>
          <p:cNvSpPr/>
          <p:nvPr/>
        </p:nvSpPr>
        <p:spPr>
          <a:xfrm>
            <a:off x="914400" y="49194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FEEDBACK LOOP (Continuous Improvement)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of the Study — System Architecture &amp; Workflows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PLATFORMS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640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05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987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261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005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987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749040" y="1261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914400"/>
            <a:ext cx="2743200" cy="640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005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987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720840" y="1261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Expo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28600" y="1783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SYSTEM WORKFLOWS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3152" y="2057400"/>
            <a:ext cx="1719072" cy="841248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" y="2057400"/>
            <a:ext cx="171907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" y="212140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5488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Authentication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46304" y="240487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• Session Binding • Access Verification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1883664" y="2057400"/>
            <a:ext cx="1719072" cy="841248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883664" y="2057400"/>
            <a:ext cx="171907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5104" y="212140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286000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956816" y="240487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Search • Request • Librarian Notification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3694176" y="2057400"/>
            <a:ext cx="1719072" cy="841248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94176" y="2057400"/>
            <a:ext cx="171907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5616" y="2121408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096512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Borrow/Return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3767328" y="240487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• Transaction Logging • Due Date</a:t>
            </a:r>
            <a:endParaRPr lang="en-US" sz="750" dirty="0"/>
          </a:p>
        </p:txBody>
      </p:sp>
      <p:sp>
        <p:nvSpPr>
          <p:cNvPr id="37" name="Shape 29"/>
          <p:cNvSpPr/>
          <p:nvPr/>
        </p:nvSpPr>
        <p:spPr>
          <a:xfrm>
            <a:off x="5504688" y="2057400"/>
            <a:ext cx="1719072" cy="841248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504688" y="2057400"/>
            <a:ext cx="171907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6128" y="2121408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907024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5577840" y="240487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• Guided Responses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7315200" y="2057400"/>
            <a:ext cx="1719072" cy="841248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7315200" y="2057400"/>
            <a:ext cx="171907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2121408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717536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7388352" y="240487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• Reservation Analytics • Activity Monitoring</a:t>
            </a:r>
            <a:endParaRPr lang="en-US" sz="750" dirty="0"/>
          </a:p>
        </p:txBody>
      </p:sp>
      <p:sp>
        <p:nvSpPr>
          <p:cNvPr id="50" name="Text 40"/>
          <p:cNvSpPr/>
          <p:nvPr/>
        </p:nvSpPr>
        <p:spPr>
          <a:xfrm>
            <a:off x="228600" y="3108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</a:t>
            </a:r>
            <a:endParaRPr lang="en-US" sz="9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3429000"/>
            <a:ext cx="201168" cy="20116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38912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Library System</a:t>
            </a:r>
            <a:endParaRPr lang="en-US" sz="100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2112" y="3429000"/>
            <a:ext cx="201168" cy="20116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3438144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344" y="3429000"/>
            <a:ext cx="201168" cy="201168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437376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Shelf Map</a:t>
            </a:r>
            <a:endParaRPr lang="en-US" sz="100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3840480"/>
            <a:ext cx="201168" cy="201168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438912" y="3794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Inquiry Responses</a:t>
            </a:r>
            <a:endParaRPr lang="en-US" sz="1000" dirty="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2112" y="3840480"/>
            <a:ext cx="201168" cy="201168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3438144" y="3794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Circulation Records</a:t>
            </a:r>
            <a:endParaRPr lang="en-US" sz="1000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344" y="3840480"/>
            <a:ext cx="201168" cy="201168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6437376" y="3794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QR Transactions</a:t>
            </a:r>
            <a:endParaRPr lang="en-US" sz="1000" dirty="0"/>
          </a:p>
        </p:txBody>
      </p:sp>
      <p:sp>
        <p:nvSpPr>
          <p:cNvPr id="63" name="Shape 47"/>
          <p:cNvSpPr/>
          <p:nvPr/>
        </p:nvSpPr>
        <p:spPr>
          <a:xfrm>
            <a:off x="164592" y="4251960"/>
            <a:ext cx="8814816" cy="6217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64" name="Text 48"/>
          <p:cNvSpPr/>
          <p:nvPr/>
        </p:nvSpPr>
        <p:spPr>
          <a:xfrm>
            <a:off x="274320" y="42519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—  ISO/IEC 25010 Quality Model</a:t>
            </a:r>
            <a:endParaRPr lang="en-US" sz="1050" dirty="0"/>
          </a:p>
        </p:txBody>
      </p:sp>
      <p:sp>
        <p:nvSpPr>
          <p:cNvPr id="65" name="Text 49"/>
          <p:cNvSpPr/>
          <p:nvPr/>
        </p:nvSpPr>
        <p:spPr>
          <a:xfrm>
            <a:off x="4023360" y="4315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Functionality: Completeness, correctness, appropriateness</a:t>
            </a:r>
            <a:endParaRPr lang="en-US" sz="800" dirty="0"/>
          </a:p>
        </p:txBody>
      </p:sp>
      <p:sp>
        <p:nvSpPr>
          <p:cNvPr id="66" name="Text 50"/>
          <p:cNvSpPr/>
          <p:nvPr/>
        </p:nvSpPr>
        <p:spPr>
          <a:xfrm>
            <a:off x="5687568" y="4315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Learnability, operability, error protection</a:t>
            </a:r>
            <a:endParaRPr lang="en-US" sz="800" dirty="0"/>
          </a:p>
        </p:txBody>
      </p:sp>
      <p:sp>
        <p:nvSpPr>
          <p:cNvPr id="67" name="Text 51"/>
          <p:cNvSpPr/>
          <p:nvPr/>
        </p:nvSpPr>
        <p:spPr>
          <a:xfrm>
            <a:off x="7351776" y="43159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Stability, performance, fault tolerance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1 — Secure QR Authentication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3291840" cy="42062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329184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91440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331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QR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219456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127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Signing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3657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QR is dynamically signed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tied to one physical copy.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or reused codes 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before any transaction.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11880" y="713232"/>
            <a:ext cx="5303520" cy="9144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713232"/>
            <a:ext cx="54864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0" y="7680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Workflow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49040" y="106070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user presents their QR code → system validates via HMAC-SHA256 → session binding → access is granted only after verification clears.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11880" y="1737360"/>
            <a:ext cx="5303520" cy="9144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11880" y="1737360"/>
            <a:ext cx="54864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17922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Traceability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49040" y="2084832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scan ties back to a specific registered account and a specific book copy (CopyBookID schema). Every transaction is logged with user ID, book ID, date/time, due date, and status.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11880" y="2761488"/>
            <a:ext cx="5303520" cy="9144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11880" y="2761488"/>
            <a:ext cx="54864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0" y="28163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Anti-Duplication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749040" y="3108960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prevent duplicate submissions for borrow, return, and reservation actions — addressed at implementation level, not through procedural workarounds.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11880" y="3785616"/>
            <a:ext cx="5303520" cy="9144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11880" y="3785616"/>
            <a:ext cx="54864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49040" y="3840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 Principle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749040" y="413308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function as dynamic verification tokens, not static identifiers. One-time code generation, session binding, and server-side validation prevent forgery and replay attacks.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2 — Intelligent Reservation Module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13232"/>
            <a:ext cx="1508760" cy="137160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412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Catalog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10512" y="1371600"/>
            <a:ext cx="164592" cy="36576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0" y="713232"/>
            <a:ext cx="150876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841248"/>
            <a:ext cx="384048" cy="384048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11" name="Text 7"/>
          <p:cNvSpPr/>
          <p:nvPr/>
        </p:nvSpPr>
        <p:spPr>
          <a:xfrm>
            <a:off x="205740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547872" y="1371600"/>
            <a:ext cx="164592" cy="36576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49040" y="713232"/>
            <a:ext cx="150876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841248"/>
            <a:ext cx="384048" cy="384048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15" name="Text 10"/>
          <p:cNvSpPr/>
          <p:nvPr/>
        </p:nvSpPr>
        <p:spPr>
          <a:xfrm>
            <a:off x="379476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285232" y="1371600"/>
            <a:ext cx="164592" cy="36576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0" y="713232"/>
            <a:ext cx="150876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841248"/>
            <a:ext cx="384048" cy="384048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19" name="Text 13"/>
          <p:cNvSpPr/>
          <p:nvPr/>
        </p:nvSpPr>
        <p:spPr>
          <a:xfrm>
            <a:off x="553212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Held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Reserve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7022592" y="1371600"/>
            <a:ext cx="164592" cy="36576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223760" y="713232"/>
            <a:ext cx="150876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84124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1280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Claims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Deadline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82880" y="2286000"/>
            <a:ext cx="4279392" cy="118872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82880" y="2286000"/>
            <a:ext cx="4279392" cy="45720"/>
          </a:xfrm>
          <a:prstGeom prst="rect">
            <a:avLst/>
          </a:prstGeom>
          <a:solidFill>
            <a:srgbClr val="1BA8A7"/>
          </a:solidFill>
          <a:ln w="12700">
            <a:solidFill>
              <a:srgbClr val="1BA8A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2004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20040" y="268833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confirm whether a title is in and hold materials without first making a physical trip. QR-based transaction workflow reduces counter delays.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36008" y="2286000"/>
            <a:ext cx="4279392" cy="118872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36008" y="2286000"/>
            <a:ext cx="4279392" cy="45720"/>
          </a:xfrm>
          <a:prstGeom prst="rect">
            <a:avLst/>
          </a:prstGeom>
          <a:solidFill>
            <a:srgbClr val="1BA8A7"/>
          </a:solidFill>
          <a:ln w="12700">
            <a:solidFill>
              <a:srgbClr val="1BA8A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773168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Status Tracking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773168" y="268833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records each reservation request, notifies the librarian, and holds the copy under reserved status until the claiming deadline or cancellation.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82880" y="3611880"/>
            <a:ext cx="4279392" cy="118872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82880" y="3611880"/>
            <a:ext cx="4279392" cy="45720"/>
          </a:xfrm>
          <a:prstGeom prst="rect">
            <a:avLst/>
          </a:prstGeom>
          <a:solidFill>
            <a:srgbClr val="1BA8A7"/>
          </a:solidFill>
          <a:ln w="12700">
            <a:solidFill>
              <a:srgbClr val="1BA8A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20040" y="3703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20040" y="401421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receive instant notifications for each new reservation. Students get confirmation and deadline reminders to complete their claims.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636008" y="3611880"/>
            <a:ext cx="4279392" cy="118872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36008" y="3611880"/>
            <a:ext cx="4279392" cy="45720"/>
          </a:xfrm>
          <a:prstGeom prst="rect">
            <a:avLst/>
          </a:prstGeom>
          <a:solidFill>
            <a:srgbClr val="1BA8A7"/>
          </a:solidFill>
          <a:ln w="12700">
            <a:solidFill>
              <a:srgbClr val="1BA8A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773168" y="3703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Safeguards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773168" y="401421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prevent duplicate reservation submissions. The system enforces claiming deadlines and automatically releases unredeemed holds.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3 — AI-Assisted Library Chatbot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8778240" cy="7772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955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713232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library-oriented conversational module — not a general-purpose chatbot — built specifically to respond to user inquiries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catalog availability, borrowing procedures, reservations, and library services.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2880" y="1554480"/>
            <a:ext cx="4297680" cy="10058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554480"/>
            <a:ext cx="54864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6276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Handles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193852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availability queries, borrowing procedures, reservation status checks, library service navigation. Operates within predefined response categories tied directly to library operations.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2880" y="2670048"/>
            <a:ext cx="4297680" cy="10058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2670048"/>
            <a:ext cx="54864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743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Use It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" y="305409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students and librarians can use the AI assistant. It handles routine queries without requiring staff intervention, freeing librarians for higher-priority work.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3785616"/>
            <a:ext cx="4297680" cy="10058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3785616"/>
            <a:ext cx="54864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8587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Boundaries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" y="416966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operates within fixed response categories — it is NOT a general-purpose AI. It does not make autonomous decisions and stays within defined library-related scope.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1554480"/>
            <a:ext cx="4297680" cy="3346704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54880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Literature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2011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(2024)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22677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libraries can build AI chatbots without extensive technical infrastructure — lowering the barrier for adoption.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54880" y="2788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&amp; Coates (2024)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30449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can guide users to information resources — though accuracy requires human oversight.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Adetayo (2023)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54880" y="38221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cover both technical services and reader assistance in academic libraries.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54880" y="4343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Bawack &amp; Bawack (2025)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54880" y="45994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AI-supported analytics improve resource management and decision quality when staff remain involved.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4 — Analytics Dashboard &amp; Digital Shelf 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429768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297680" cy="45720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7772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749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Frequency Visualization (Illustrative)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11480" y="2011680"/>
            <a:ext cx="393192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551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950976" y="1732280"/>
            <a:ext cx="393192" cy="782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2551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490472" y="1955800"/>
            <a:ext cx="393192" cy="558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90472" y="2551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029968" y="1508760"/>
            <a:ext cx="393192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29968" y="2551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569464" y="1844040"/>
            <a:ext cx="393192" cy="670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9464" y="2551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108960" y="2123440"/>
            <a:ext cx="393192" cy="391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08960" y="2551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648456" y="1620520"/>
            <a:ext cx="393192" cy="8940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48456" y="2551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65760" y="2514600"/>
            <a:ext cx="39776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944368"/>
            <a:ext cx="182880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6928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frequency &amp; trend over time</a:t>
            </a:r>
            <a:endParaRPr lang="en-US" sz="9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319272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66928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volume and approval rates</a:t>
            </a:r>
            <a:endParaRPr lang="en-US" sz="9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694176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6928" y="3630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patterns and peak periods</a:t>
            </a:r>
            <a:endParaRPr lang="en-US" sz="9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69080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6928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summaries and overdue tracking</a:t>
            </a:r>
            <a:endParaRPr lang="en-US" sz="9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443984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66928" y="4379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use data for acquisition planning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63440" y="685800"/>
            <a:ext cx="429768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663440" y="685800"/>
            <a:ext cx="429768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777240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20640" y="749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Shelf Map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4754880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Floor Layout (Illustrative)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4800600" y="1536192"/>
            <a:ext cx="1234440" cy="43891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4800600" y="15361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6190488" y="1536192"/>
            <a:ext cx="123444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6190488" y="15361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</a:t>
            </a:r>
            <a:endParaRPr lang="en-US" sz="750" dirty="0"/>
          </a:p>
        </p:txBody>
      </p:sp>
      <p:sp>
        <p:nvSpPr>
          <p:cNvPr id="44" name="Shape 35"/>
          <p:cNvSpPr/>
          <p:nvPr/>
        </p:nvSpPr>
        <p:spPr>
          <a:xfrm>
            <a:off x="7580376" y="1536192"/>
            <a:ext cx="1234440" cy="43891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580376" y="15361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50" dirty="0"/>
          </a:p>
        </p:txBody>
      </p:sp>
      <p:sp>
        <p:nvSpPr>
          <p:cNvPr id="46" name="Shape 37"/>
          <p:cNvSpPr/>
          <p:nvPr/>
        </p:nvSpPr>
        <p:spPr>
          <a:xfrm>
            <a:off x="4800600" y="2103120"/>
            <a:ext cx="1234440" cy="43891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4800600" y="210312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8" name="Shape 39"/>
          <p:cNvSpPr/>
          <p:nvPr/>
        </p:nvSpPr>
        <p:spPr>
          <a:xfrm>
            <a:off x="6190488" y="2103120"/>
            <a:ext cx="1234440" cy="438912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6190488" y="210312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</a:t>
            </a:r>
            <a:endParaRPr lang="en-US" sz="750" dirty="0"/>
          </a:p>
        </p:txBody>
      </p:sp>
      <p:sp>
        <p:nvSpPr>
          <p:cNvPr id="50" name="Shape 41"/>
          <p:cNvSpPr/>
          <p:nvPr/>
        </p:nvSpPr>
        <p:spPr>
          <a:xfrm>
            <a:off x="4800600" y="2724912"/>
            <a:ext cx="402336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44368"/>
            <a:ext cx="182880" cy="18288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047488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interactive map of library collection</a:t>
            </a:r>
            <a:endParaRPr lang="en-US" sz="95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319272"/>
            <a:ext cx="182880" cy="18288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047488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arrangement by shelf, section, category</a:t>
            </a:r>
            <a:endParaRPr lang="en-US" sz="95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94176"/>
            <a:ext cx="182880" cy="1828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047488" y="3630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locate books before going to the shelf</a:t>
            </a:r>
            <a:endParaRPr lang="en-US" sz="95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069080"/>
            <a:ext cx="182880" cy="18288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047488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JRMSU Katipunan Campus interior</a:t>
            </a:r>
            <a:endParaRPr lang="en-US" sz="95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443984"/>
            <a:ext cx="182880" cy="182880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5047488" y="4379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AI assistant for complete navigation support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283464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2834640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768096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2121408"/>
            <a:ext cx="2468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1762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Librarians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24323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60120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browser-capable device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2724912"/>
            <a:ext cx="2468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62072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3504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access — no local install needed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7355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" y="32095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range of patron and staff functions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85032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catalog, reservation, account mgmt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9651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3504" y="4032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operations and reporting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3163824" y="685800"/>
            <a:ext cx="283464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163824" y="685800"/>
            <a:ext cx="2834640" cy="77724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768096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255264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255264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346704" y="2121408"/>
            <a:ext cx="2468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3346704" y="21762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3849624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3346704" y="24323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3941064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workstations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346704" y="2724912"/>
            <a:ext cx="2468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2862072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584448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workstation installation</a:t>
            </a:r>
            <a:endParaRPr lang="en-US" sz="9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3273552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584448" y="32095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processing &amp; record management</a:t>
            </a:r>
            <a:endParaRPr lang="en-US" sz="9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3685032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584448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 at the counter</a:t>
            </a:r>
            <a:endParaRPr lang="en-US" sz="9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4096512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584448" y="4032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workflows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6144768" y="685800"/>
            <a:ext cx="283464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6144768" y="685800"/>
            <a:ext cx="283464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768096"/>
            <a:ext cx="502920" cy="5029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236208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47" name="Text 34"/>
          <p:cNvSpPr/>
          <p:nvPr/>
        </p:nvSpPr>
        <p:spPr>
          <a:xfrm>
            <a:off x="6236208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6327648" y="2121408"/>
            <a:ext cx="2468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6327648" y="21762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900" dirty="0"/>
          </a:p>
        </p:txBody>
      </p:sp>
      <p:sp>
        <p:nvSpPr>
          <p:cNvPr id="50" name="Text 37"/>
          <p:cNvSpPr/>
          <p:nvPr/>
        </p:nvSpPr>
        <p:spPr>
          <a:xfrm>
            <a:off x="6830568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51" name="Text 38"/>
          <p:cNvSpPr/>
          <p:nvPr/>
        </p:nvSpPr>
        <p:spPr>
          <a:xfrm>
            <a:off x="6327648" y="24323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</a:t>
            </a:r>
            <a:endParaRPr lang="en-US" sz="900" dirty="0"/>
          </a:p>
        </p:txBody>
      </p:sp>
      <p:sp>
        <p:nvSpPr>
          <p:cNvPr id="52" name="Text 39"/>
          <p:cNvSpPr/>
          <p:nvPr/>
        </p:nvSpPr>
        <p:spPr>
          <a:xfrm>
            <a:off x="6922008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devices</a:t>
            </a:r>
            <a:endParaRPr lang="en-US" sz="900" dirty="0"/>
          </a:p>
        </p:txBody>
      </p:sp>
      <p:sp>
        <p:nvSpPr>
          <p:cNvPr id="53" name="Shape 40"/>
          <p:cNvSpPr/>
          <p:nvPr/>
        </p:nvSpPr>
        <p:spPr>
          <a:xfrm>
            <a:off x="6327648" y="2724912"/>
            <a:ext cx="2468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62072"/>
            <a:ext cx="182880" cy="18288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565392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Student-facing functions on personal devices</a:t>
            </a:r>
            <a:endParaRPr lang="en-US" sz="9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273552"/>
            <a:ext cx="182880" cy="18288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6565392" y="32095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reservation viewing, borrowing updates</a:t>
            </a:r>
            <a:endParaRPr lang="en-US" sz="9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685032"/>
            <a:ext cx="182880" cy="18288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6565392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due dates &amp; holds</a:t>
            </a:r>
            <a:endParaRPr lang="en-US" sz="900" dirty="0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4096512"/>
            <a:ext cx="182880" cy="182880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6565392" y="4032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library terminal needed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182880" y="4937760"/>
            <a:ext cx="8778240" cy="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— Backend &amp; Security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5669280" cy="34747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13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74520" y="713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713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System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060704"/>
            <a:ext cx="5669280" cy="4572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338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/ 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11338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MySQL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1338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store database structure for users, books, transactions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536192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09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/ Services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1609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(Django)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609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data access from business logic; preserve maintainability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011680"/>
            <a:ext cx="5669280" cy="4572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084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/ API Controllers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2084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084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auth, permissions, request processing, response delivery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487168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560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2560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Electron, 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560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web, desktop, and mobile interfaces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962656"/>
            <a:ext cx="5669280" cy="45720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35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Commands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3035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manage.py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3035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creation, DB updates, superuser creation, cleanup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685800"/>
            <a:ext cx="2971800" cy="42062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685800"/>
            <a:ext cx="29718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822960"/>
            <a:ext cx="868680" cy="8686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035040" y="1783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080760" y="2450592"/>
            <a:ext cx="2788920" cy="402336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24780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44768" y="26517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signed at generation, re-validated at scan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80760" y="2907792"/>
            <a:ext cx="2788920" cy="402336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44768" y="29352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144768" y="31089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borrow, return, reservation actions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080760" y="3364992"/>
            <a:ext cx="2788920" cy="402336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44768" y="33924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Binding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144768" y="3566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tied to one physical copy — no cross-use possible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80760" y="3822192"/>
            <a:ext cx="2788920" cy="402336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44768" y="38496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Enums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144768" y="4023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Librarian, Student defined as constants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080760" y="4279392"/>
            <a:ext cx="2788920" cy="402336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44768" y="43068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CopyBookID Schema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144768" y="44805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QR per physical copy — unambiguous inventory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the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279392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406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271016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" y="12161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access to catalog, reservations, and borrowing history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61848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0352" y="1563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 availability and hold materials without a physical trip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96596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0352" y="1911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transactions reduce counter delays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31343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0352" y="2258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answers routine queries without staff intervention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4636008" y="68580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636008" y="685800"/>
            <a:ext cx="4279392" cy="45720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749808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11496" y="7406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271016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83480" y="12161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logbook reconstruction and partial record piecing</a:t>
            </a:r>
            <a:endParaRPr lang="en-US" sz="9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618488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983480" y="1563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logged at point of scanning — real-time accuracy</a:t>
            </a:r>
            <a:endParaRPr lang="en-US" sz="9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965960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4983480" y="1911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surfaces borrowing patterns and collection use</a:t>
            </a:r>
            <a:endParaRPr lang="en-US" sz="9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313432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983480" y="2258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and returns tracked automatically in real time</a:t>
            </a:r>
            <a:endParaRPr lang="en-US" sz="900" dirty="0"/>
          </a:p>
        </p:txBody>
      </p:sp>
      <p:sp>
        <p:nvSpPr>
          <p:cNvPr id="29" name="Shape 17"/>
          <p:cNvSpPr/>
          <p:nvPr/>
        </p:nvSpPr>
        <p:spPr>
          <a:xfrm>
            <a:off x="182880" y="283464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182880" y="2834640"/>
            <a:ext cx="4279392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898648"/>
            <a:ext cx="320040" cy="32004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58368" y="28895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Administration</a:t>
            </a:r>
            <a:endParaRPr lang="en-US" sz="13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419856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30352" y="3364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digital platform for all library operations</a:t>
            </a:r>
            <a:endParaRPr lang="en-US" sz="9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767328"/>
            <a:ext cx="182880" cy="18288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30352" y="37124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basis for record control and evidence-based decisions</a:t>
            </a:r>
            <a:endParaRPr lang="en-US" sz="9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114800"/>
            <a:ext cx="182880" cy="18288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30352" y="4059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evaluation data supports administrative planning</a:t>
            </a:r>
            <a:endParaRPr lang="en-US" sz="9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462272"/>
            <a:ext cx="182880" cy="182880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530352" y="4407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future system expansion across campuses</a:t>
            </a:r>
            <a:endParaRPr lang="en-US" sz="900" dirty="0"/>
          </a:p>
        </p:txBody>
      </p:sp>
      <p:sp>
        <p:nvSpPr>
          <p:cNvPr id="41" name="Shape 24"/>
          <p:cNvSpPr/>
          <p:nvPr/>
        </p:nvSpPr>
        <p:spPr>
          <a:xfrm>
            <a:off x="4636008" y="283464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25"/>
          <p:cNvSpPr/>
          <p:nvPr/>
        </p:nvSpPr>
        <p:spPr>
          <a:xfrm>
            <a:off x="4636008" y="2834640"/>
            <a:ext cx="4279392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2898648"/>
            <a:ext cx="320040" cy="32004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11496" y="28895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Researchers</a:t>
            </a:r>
            <a:endParaRPr lang="en-US" sz="13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3419856"/>
            <a:ext cx="182880" cy="1828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4983480" y="3364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QR auth + reservations + AI can work in regional context</a:t>
            </a:r>
            <a:endParaRPr lang="en-US" sz="90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3767328"/>
            <a:ext cx="182880" cy="1828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4983480" y="37124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limited to well-funded urban institutions — replicable design</a:t>
            </a:r>
            <a:endParaRPr lang="en-US" sz="900" dirty="0"/>
          </a:p>
        </p:txBody>
      </p:sp>
      <p:pic>
        <p:nvPicPr>
          <p:cNvPr id="49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4114800"/>
            <a:ext cx="182880" cy="1828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4983480" y="4059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built with extension in mind for deeper analytics</a:t>
            </a:r>
            <a:endParaRPr lang="en-US" sz="900" dirty="0"/>
          </a:p>
        </p:txBody>
      </p:sp>
      <p:pic>
        <p:nvPicPr>
          <p:cNvPr id="51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4462272"/>
            <a:ext cx="182880" cy="1828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4983480" y="4407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path: shelf navigation, advanced AI, multi-campus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Delimitations of the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429768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2976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13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INCLUDED IN SCOPE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2529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access and responsive UI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9105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login, registration &amp; account management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5681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352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management and book browsing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2257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0352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processing and deadline tracking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8833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0352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and return transactions via QR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054096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0352" y="2999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management and role control</a:t>
            </a:r>
            <a:endParaRPr lang="en-US" sz="9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985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0352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functions and analytics dashboard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85616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0352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library inquiries</a:t>
            </a:r>
            <a:endParaRPr lang="en-US" sz="9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51376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0352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shelf map (library interior)</a:t>
            </a:r>
            <a:endParaRPr lang="en-US" sz="9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17136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0352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quality evaluation</a:t>
            </a:r>
            <a:endParaRPr lang="en-US" sz="950" dirty="0"/>
          </a:p>
        </p:txBody>
      </p:sp>
      <p:sp>
        <p:nvSpPr>
          <p:cNvPr id="28" name="Shape 16"/>
          <p:cNvSpPr/>
          <p:nvPr/>
        </p:nvSpPr>
        <p:spPr>
          <a:xfrm>
            <a:off x="4663440" y="685800"/>
            <a:ext cx="429768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17"/>
          <p:cNvSpPr/>
          <p:nvPr/>
        </p:nvSpPr>
        <p:spPr>
          <a:xfrm>
            <a:off x="4663440" y="685800"/>
            <a:ext cx="4297680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4754880" y="713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OUTSIDE SCOPE</a:t>
            </a:r>
            <a:endParaRPr lang="en-US" sz="12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25296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010912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 integration</a:t>
            </a:r>
            <a:endParaRPr lang="en-US" sz="9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91056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010912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authentication</a:t>
            </a:r>
            <a:endParaRPr lang="en-US" sz="9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56816"/>
            <a:ext cx="201168" cy="20116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010912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automation systems</a:t>
            </a:r>
            <a:endParaRPr lang="en-US" sz="95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22576"/>
            <a:ext cx="201168" cy="20116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010912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(Time-based One-Time Password) auth</a:t>
            </a:r>
            <a:endParaRPr lang="en-US" sz="95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88336"/>
            <a:ext cx="201168" cy="201168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5010912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deployment</a:t>
            </a:r>
            <a:endParaRPr lang="en-US" sz="95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54096"/>
            <a:ext cx="201168" cy="201168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5010912" y="2999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and purchasing modules</a:t>
            </a:r>
            <a:endParaRPr lang="en-US" sz="950" dirty="0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19856"/>
            <a:ext cx="201168" cy="201168"/>
          </a:xfrm>
          <a:prstGeom prst="rect">
            <a:avLst/>
          </a:prstGeom>
        </p:spPr>
      </p:pic>
      <p:sp>
        <p:nvSpPr>
          <p:cNvPr id="44" name="Text 25"/>
          <p:cNvSpPr/>
          <p:nvPr/>
        </p:nvSpPr>
        <p:spPr>
          <a:xfrm>
            <a:off x="5010912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from scratch (uses predefined scope)</a:t>
            </a:r>
            <a:endParaRPr lang="en-US" sz="950" dirty="0"/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85616"/>
            <a:ext cx="201168" cy="201168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5010912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indoor navigation capabilities</a:t>
            </a:r>
            <a:endParaRPr lang="en-US" sz="950" dirty="0"/>
          </a:p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151376"/>
            <a:ext cx="201168" cy="201168"/>
          </a:xfrm>
          <a:prstGeom prst="rect">
            <a:avLst/>
          </a:prstGeom>
        </p:spPr>
      </p:pic>
      <p:sp>
        <p:nvSpPr>
          <p:cNvPr id="48" name="Text 27"/>
          <p:cNvSpPr/>
          <p:nvPr/>
        </p:nvSpPr>
        <p:spPr>
          <a:xfrm>
            <a:off x="5010912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mobile application (Android only)</a:t>
            </a:r>
            <a:endParaRPr lang="en-US" sz="950" dirty="0"/>
          </a:p>
        </p:txBody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517136"/>
            <a:ext cx="201168" cy="201168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5010912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cross-linking or inter-library loan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Related Literature — Key Findings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210312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210312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Literature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61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Izah &amp; Ferguson (2024)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408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library platforms widen catalog and service access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93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et al. (2021)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3408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borrowing/return workflows reduces service friction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26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&amp; Shahzad (2024)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and security are core LMS requirements, not add-ons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91363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Alzahrani et al. (2019)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quality, system quality, and service quality drive satisfaction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95728" y="685800"/>
            <a:ext cx="210312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95728" y="685800"/>
            <a:ext cx="2103120" cy="384048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Authentication Studies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87168" y="1115568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2888" y="1161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Seeth (2024)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32888" y="1408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access control must balance security with operational efficiency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87168" y="2048256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2093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 &amp; Wang (2025)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32888" y="23408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auth strengthens multi-factor identity validation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87168" y="2980944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32888" y="3026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Alsuhibany (2025)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32888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generation and fraud-resistant QR verification is achievable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87168" y="391363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32888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(2025)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32888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QR login systems have documented security vulnerabilities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08576" y="685800"/>
            <a:ext cx="210312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685800"/>
            <a:ext cx="21031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Library Studies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0016" y="1115568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736" y="1161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(2024)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45736" y="1408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libraries can deploy chatbots with minimal technical resources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0016" y="2048256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2093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&amp; Coates (2024)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45736" y="23408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guides users to resources but accuracy requires oversight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0016" y="2980944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45736" y="3026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Adetayo (2023)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45736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cover technical services and reader assistance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0016" y="391363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45736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Castillo et al. (2025)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45736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directors accept AI when its boundaries are clearly defined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21424" y="685800"/>
            <a:ext cx="210312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21424" y="685800"/>
            <a:ext cx="2103120" cy="38404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Literature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12864" y="1115568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58584" y="1161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 et al. (2023)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58584" y="1408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ILMS (Philippines) proved centralized web systems reduce fragmentation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912864" y="2048256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58584" y="2093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(2023)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58584" y="23408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quality characteristics: functionality, usability, reliability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912864" y="2980944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58584" y="3026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(2024)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958584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Learnability, efficiency, and error tolerance are reliable UX indicators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12864" y="391363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58584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Kuhar et al. (2022)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58584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questionnaires capture digital library UX with sufficient precision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— Design &amp; Approach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4297680" cy="201168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297680" cy="38404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132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Research Design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Descriptive-Quantitative 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6420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follows an iterative vertical slice workflow — one complete workflow at a time, from interface down to data, before the next begins. This keeps the system testable at every stage.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685800"/>
            <a:ext cx="4297680" cy="201168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685800"/>
            <a:ext cx="429768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Environment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1155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115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Python + MySQL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06440" y="1463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1810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18105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(Windows)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1579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21579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(Android)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" y="27432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Workflows (Vertical Slice Approach)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063240"/>
            <a:ext cx="1664208" cy="1783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063240"/>
            <a:ext cx="166420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0906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10128"/>
            <a:ext cx="50292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74320" y="391363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956816" y="3063240"/>
            <a:ext cx="1664208" cy="1783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956816" y="3063240"/>
            <a:ext cx="166420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02536" y="30906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3310128"/>
            <a:ext cx="502920" cy="5029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048256" y="391363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730752" y="3063240"/>
            <a:ext cx="1664208" cy="1783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730752" y="3063240"/>
            <a:ext cx="166420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76472" y="30906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310128"/>
            <a:ext cx="502920" cy="5029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822192" y="391363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Borrow/Return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504688" y="3063240"/>
            <a:ext cx="1664208" cy="1783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5504688" y="3063240"/>
            <a:ext cx="166420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550408" y="30906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3310128"/>
            <a:ext cx="502920" cy="5029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596128" y="391363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7278624" y="3063240"/>
            <a:ext cx="1664208" cy="17830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7278624" y="3063240"/>
            <a:ext cx="166420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324344" y="30906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4" y="3310128"/>
            <a:ext cx="502920" cy="50292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370064" y="391363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Respondents &amp; Sampling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429768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297680" cy="45720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589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49808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— Library Staff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207008"/>
            <a:ext cx="41148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Total Enumeration (All available library staff)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70078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" y="162763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administrative operators of the system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3969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064" y="206654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daily circulation management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57860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2064" y="250545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catalog management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01752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2064" y="294436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any staff would underrepresent the administrative user group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274320" y="3520440"/>
            <a:ext cx="411480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84048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Eligibility Criteria (Group 2):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04488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5216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enrolled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78808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85216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documented library transaction on record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453128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85216" y="4407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of navigating a web or mobile interface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4663440" y="685800"/>
            <a:ext cx="4297680" cy="42062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4663440" y="685800"/>
            <a:ext cx="4297680" cy="45720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758952"/>
            <a:ext cx="329184" cy="32918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38928" y="749808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— Students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4754880" y="1207008"/>
            <a:ext cx="4114800" cy="34747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484632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Stratified Random Sampling by Year Level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475488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Variable: Year Level</a:t>
            </a:r>
            <a:endParaRPr lang="en-US" sz="1000" dirty="0"/>
          </a:p>
        </p:txBody>
      </p:sp>
      <p:sp>
        <p:nvSpPr>
          <p:cNvPr id="34" name="Text 23"/>
          <p:cNvSpPr/>
          <p:nvPr/>
        </p:nvSpPr>
        <p:spPr>
          <a:xfrm>
            <a:off x="4754880" y="1965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familiarity with library services shifts across academic years — a first-year student evaluates the reservation workflow differently than a fourth-year who has used it before.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4754880" y="2633472"/>
            <a:ext cx="41148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4754880" y="2724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Formula — Slovin's Formula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4754880" y="3044952"/>
            <a:ext cx="4114800" cy="80467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4754880" y="3090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 / (1 + N·e²)</a:t>
            </a:r>
            <a:endParaRPr lang="en-US" sz="1800" dirty="0"/>
          </a:p>
        </p:txBody>
      </p:sp>
      <p:sp>
        <p:nvSpPr>
          <p:cNvPr id="39" name="Text 28"/>
          <p:cNvSpPr/>
          <p:nvPr/>
        </p:nvSpPr>
        <p:spPr>
          <a:xfrm>
            <a:off x="475488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sample size  |  N = population  |  e = 0.05 (5% margin of error)</a:t>
            </a:r>
            <a:endParaRPr lang="en-US" sz="850" dirty="0"/>
          </a:p>
        </p:txBody>
      </p:sp>
      <p:sp>
        <p:nvSpPr>
          <p:cNvPr id="40" name="Text 29"/>
          <p:cNvSpPr/>
          <p:nvPr/>
        </p:nvSpPr>
        <p:spPr>
          <a:xfrm>
            <a:off x="4754880" y="3913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allocation across strata — treats the student population as distributed across year levels, not undifferentiated.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Instrument, Validation &amp; Scoring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5303520" cy="21488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5303520" cy="38404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132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Researcher-Made Questionnaire — ISO/IEC 25010 Anchored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64008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7552" y="11155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Profile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111556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year level, role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64008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087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1508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15087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catalog, reservation, borrow/return, QR, reporting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01952"/>
            <a:ext cx="64008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019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87552" y="19019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97480" y="19019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use, learnability, visual clarity, task efficiency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95144"/>
            <a:ext cx="64008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951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87552" y="22951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97480" y="229514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stability, performance under repeated use, error handling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685800"/>
            <a:ext cx="3337560" cy="21488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685800"/>
            <a:ext cx="33375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7132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Validation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15000" y="1115568"/>
            <a:ext cx="640080" cy="32918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1155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19088" y="111556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Panel (5 members: 2 IT faculty, 2 library science professionals, 1 statistician). Items rated on clarity, relevance, and alignment with research objectives. 4-point scale — no neutral midpoint.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15000" y="1938528"/>
            <a:ext cx="640080" cy="32918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9385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19088" y="193852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 — Cronbach's Alpha ≥ 0.70 threshold. Ensures items within each section are consistent and measure the same construct reliably.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" y="2907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Procedure — Weighted Mean Interpretation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" y="3218688"/>
            <a:ext cx="8778240" cy="34747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Range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Interpretation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Acceptability Level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" y="3593592"/>
            <a:ext cx="8778240" cy="2926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3593592"/>
            <a:ext cx="54864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3630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 – 5.00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36301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Agree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3630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Acceptable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82880" y="3904488"/>
            <a:ext cx="8778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" y="3904488"/>
            <a:ext cx="54864" cy="292608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39410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 – 4.49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3941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39410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" y="4215384"/>
            <a:ext cx="8778240" cy="2926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2880" y="4215384"/>
            <a:ext cx="54864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" y="42519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 – 3.49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00400" y="4251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4251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Acceptable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4526280"/>
            <a:ext cx="8778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2880" y="4526280"/>
            <a:ext cx="54864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4562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 – 2.49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00400" y="45628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43600" y="4562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Acceptable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" y="4837176"/>
            <a:ext cx="8778240" cy="29260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" y="4837176"/>
            <a:ext cx="54864" cy="2926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" y="4873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– 1.49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0400" y="4873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Disagree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0" y="4873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Not Acceptable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 Procedure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unfolds across three sequential stages: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8778240" cy="12344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24128"/>
            <a:ext cx="1078992" cy="12344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338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481328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Demonstration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53312" y="11155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go through a guided demo before questionnaire distribution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4630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login/registration, catalog browsing, reservation, borrow/return, QR authentication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53312" y="181051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all respondents have seen each feature before evaluating 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350008"/>
            <a:ext cx="8778240" cy="12344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350008"/>
            <a:ext cx="1078992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4597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" y="2807208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Administration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24414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25010-anchored researcher-made questionnaire distributed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53312" y="2788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rate each item on a 5-point Likert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53312" y="31363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cover functionality, usability, and reliability dimensions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675888"/>
            <a:ext cx="8778240" cy="1234440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675888"/>
            <a:ext cx="1078992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78561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4133088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7673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scores computed for each item: WM = Σ(f × w) / 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53312" y="41148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interpreted using the verbal/acceptability scale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53312" y="44622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summarize findings across all respondent groups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279392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2237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Data Collection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1615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" y="114300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respondent participates without prior informed consent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0992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5216" y="1636776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is strictly voluntary — freedom to decline at any time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0370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216" y="2130552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withdraw made clear before demonstration and questionnaire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636008" y="68580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36008" y="685800"/>
            <a:ext cx="4279392" cy="384048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73168" y="72237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Study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21615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38344" y="114300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identities not recorded in any traceable form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70992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38344" y="1636776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Clarifications limited to system-related questions only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203704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38344" y="2130552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probing into personal circumstances of respondents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182880" y="283464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82880" y="2834640"/>
            <a:ext cx="4279392" cy="38404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320040" y="287121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Usage &amp; Access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364992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85216" y="329184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 used exclusively for academic evaluation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58768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85216" y="3785616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data shared outside the research team</a:t>
            </a:r>
            <a:endParaRPr lang="en-US" sz="9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352544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85216" y="4279392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study records restricted to authorized team members only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4636008" y="2834640"/>
            <a:ext cx="4279392" cy="19933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4636008" y="2834640"/>
            <a:ext cx="4279392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4773168" y="287121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Collected</a:t>
            </a:r>
            <a:endParaRPr lang="en-US" sz="12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364992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038344" y="329184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year level, and role — for profile purposes only</a:t>
            </a:r>
            <a:endParaRPr lang="en-US" sz="95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858768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038344" y="3785616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personal information beyond respondent profile</a:t>
            </a:r>
            <a:endParaRPr lang="en-US" sz="95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4352544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038344" y="4279392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forms disposed of appropriately after study concludes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474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of Activities — Development Timeline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34" y="749808"/>
            <a:ext cx="2377440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754" y="74980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30194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0194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9146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9146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48098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8098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7050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7050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66002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6002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24954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4954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83906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3906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42858" y="749808"/>
            <a:ext cx="758952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2858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01810" y="749808"/>
            <a:ext cx="642190" cy="39319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1810" y="749808"/>
            <a:ext cx="758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34" y="1143000"/>
            <a:ext cx="2377440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54" y="11795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Requirements Analysis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430194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89146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48098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7050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66002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24954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83906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42858" y="1143000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1810" y="1143000"/>
            <a:ext cx="635156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6770" y="1216152"/>
            <a:ext cx="685800" cy="246888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34" y="1536192"/>
            <a:ext cx="2377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54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430194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89146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48098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7050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6002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24954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83906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42858" y="1536192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01810" y="1536192"/>
            <a:ext cx="64219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25722" y="1609344"/>
            <a:ext cx="685800" cy="2468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34" y="1929384"/>
            <a:ext cx="2377440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754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Authentication Development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430194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89146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48098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7050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66002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24954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83906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42858" y="1929384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01810" y="1929384"/>
            <a:ext cx="635156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84674" y="2002536"/>
            <a:ext cx="685800" cy="246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34" y="2322576"/>
            <a:ext cx="2377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754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Module Development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30194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89146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48098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07050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66002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24954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83906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42858" y="2322576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01810" y="2322576"/>
            <a:ext cx="64219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43626" y="2395728"/>
            <a:ext cx="685800" cy="24688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34" y="2715768"/>
            <a:ext cx="2377440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754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Borrow/Return Module Development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430194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89146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948098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07050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66002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24954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983906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42858" y="2715768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501810" y="2715768"/>
            <a:ext cx="635156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43626" y="2788920"/>
            <a:ext cx="1444752" cy="24688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34" y="3108960"/>
            <a:ext cx="2377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754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Development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430194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9146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48098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707050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66002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24954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83906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742858" y="3108960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1810" y="3108960"/>
            <a:ext cx="64219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502578" y="3182112"/>
            <a:ext cx="1444752" cy="246888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34" y="3502152"/>
            <a:ext cx="2377440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2754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Development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430194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189146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948098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707050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66002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224954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983906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42858" y="3502152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501810" y="3502152"/>
            <a:ext cx="642190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61530" y="3575304"/>
            <a:ext cx="685800" cy="2468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034" y="3895344"/>
            <a:ext cx="2377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2754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System Testing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2430194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189146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948098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07050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466002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24954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983906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742858" y="3895344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501810" y="3895344"/>
            <a:ext cx="63515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020482" y="3968496"/>
            <a:ext cx="685800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34" y="4288536"/>
            <a:ext cx="2377440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2754" y="4325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Evaluation &amp; Data Gathering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2430194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189146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948098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7050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466002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224954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983906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742858" y="4288536"/>
            <a:ext cx="758952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501810" y="4288536"/>
            <a:ext cx="642190" cy="393192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779434" y="4361688"/>
            <a:ext cx="685800" cy="246888"/>
          </a:xfrm>
          <a:prstGeom prst="rect">
            <a:avLst/>
          </a:prstGeom>
          <a:solidFill>
            <a:srgbClr val="1BA8A7"/>
          </a:solidFill>
          <a:ln w="12700">
            <a:solidFill>
              <a:srgbClr val="1BA8A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34" y="4681728"/>
            <a:ext cx="2377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2754" y="4718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Final Documentation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2430194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189146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948098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707050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66002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224954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983906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742858" y="4681728"/>
            <a:ext cx="75895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501810" y="4681728"/>
            <a:ext cx="64219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38386" y="4754880"/>
            <a:ext cx="542309" cy="2468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Synthesis — The Research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8778240" cy="658368"/>
          </a:xfrm>
          <a:prstGeom prst="rect">
            <a:avLst/>
          </a:prstGeom>
          <a:solidFill>
            <a:srgbClr val="F5F8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54864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does NOT yet provide: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00584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integrates all components — secure QR auth + AI-supported inquiry + reservation automation + analytics + digital shelf mapping — in a single web-based platform purpose-built for a regional campus library.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417320"/>
            <a:ext cx="1645920" cy="1920240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417320"/>
            <a:ext cx="16459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36192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02996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QR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56032" y="254203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separately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(Seeth, Abbas, Wang, etc.)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938528" y="1417320"/>
            <a:ext cx="1645920" cy="1920240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938528" y="1417320"/>
            <a:ext cx="16459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53619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202996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AI-Supported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Handling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011680" y="254203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separately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(Chase, Li, Adetayo, etc.)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94176" y="1417320"/>
            <a:ext cx="1645920" cy="1920240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94176" y="1417320"/>
            <a:ext cx="16459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53619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67328" y="202996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767328" y="254203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separately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(Fan, Izah, Ayo, etc.)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449824" y="1417320"/>
            <a:ext cx="1645920" cy="1920240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49824" y="1417320"/>
            <a:ext cx="16459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536192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22976" y="202996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522976" y="254203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separately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(Bawack, Xu, etc.)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205472" y="1417320"/>
            <a:ext cx="1645920" cy="1920240"/>
          </a:xfrm>
          <a:prstGeom prst="rect">
            <a:avLst/>
          </a:prstGeom>
          <a:solidFill>
            <a:srgbClr val="F5F8F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05472" y="1417320"/>
            <a:ext cx="16459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9832" y="1536192"/>
            <a:ext cx="438912" cy="4389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78624" y="202996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Map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278624" y="254203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separately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(Yu et al., 2019)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914400" y="34015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+ + + = ???</a:t>
            </a:r>
            <a:endParaRPr lang="en-US" sz="2200" dirty="0"/>
          </a:p>
        </p:txBody>
      </p:sp>
      <p:sp>
        <p:nvSpPr>
          <p:cNvPr id="35" name="Shape 28"/>
          <p:cNvSpPr/>
          <p:nvPr/>
        </p:nvSpPr>
        <p:spPr>
          <a:xfrm>
            <a:off x="182880" y="3858768"/>
            <a:ext cx="8778240" cy="10058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82880" y="3858768"/>
            <a:ext cx="54864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2004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Study's Answer: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20040" y="42245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develop, and evaluate a unified AI-Assisted Library Management System with Secure QR Access and Reservations for the JRMSU Katipunan Campus — all components, one integrated platform, evaluated under ISO/IEC 25010 using descriptive-quantitative methods.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73152"/>
            <a:ext cx="73152" cy="49971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658368"/>
            <a:ext cx="27432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22960"/>
            <a:ext cx="2852928" cy="1828800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822960"/>
            <a:ext cx="2852928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9601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93268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" y="141732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manual logbook system at JRMSU Katipunan Campus with an integrated, multi-platform LMS.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82112" y="822960"/>
            <a:ext cx="2852928" cy="1828800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822960"/>
            <a:ext cx="2852928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9601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93268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QR Access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19272" y="141732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tokens ensure verified, traceable borrowing and access transactions.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99632" y="822960"/>
            <a:ext cx="2852928" cy="1828800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99632" y="822960"/>
            <a:ext cx="2852928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9601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93268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Reservations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36792" y="141732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hold materials before physically claiming them — eliminating wasted trips.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64592" y="2761488"/>
            <a:ext cx="2852928" cy="1828800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64592" y="2761488"/>
            <a:ext cx="2852928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289864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28712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01752" y="33558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Library-scoped conversational assistant handles routine queries without staff intervention.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182112" y="2761488"/>
            <a:ext cx="2852928" cy="1828800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182112" y="2761488"/>
            <a:ext cx="2852928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289864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49040" y="28712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Maps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319272" y="33558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surfaces real-time circulation data; shelf map guides users directly to materials.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199632" y="2761488"/>
            <a:ext cx="2852928" cy="1828800"/>
          </a:xfrm>
          <a:prstGeom prst="rect">
            <a:avLst/>
          </a:prstGeom>
          <a:solidFill>
            <a:srgbClr val="0A1E38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99632" y="2761488"/>
            <a:ext cx="2852928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2898648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66560" y="28712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Evaluation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336792" y="33558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acceptability assessed through functionality, usability, and reliability criteria.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Comments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42032"/>
            <a:ext cx="27432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Library Management System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Secure QR Access and Reservations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Mark A. Suico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Adrian M. Tabamo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Ernie L. Alimpong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840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Kitford Michael A. Retes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2993</Words>
  <Application>Microsoft Office PowerPoint</Application>
  <PresentationFormat>On-screen Show (16:9)</PresentationFormat>
  <Paragraphs>563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Library Management System – Research Proposal</dc:title>
  <dc:subject>PptxGenJS Presentation</dc:subject>
  <dc:creator>PptxGenJS</dc:creator>
  <cp:lastModifiedBy>James Moreno</cp:lastModifiedBy>
  <cp:revision>3</cp:revision>
  <dcterms:created xsi:type="dcterms:W3CDTF">2026-05-30T12:46:08Z</dcterms:created>
  <dcterms:modified xsi:type="dcterms:W3CDTF">2026-05-30T13:31:06Z</dcterms:modified>
</cp:coreProperties>
</file>